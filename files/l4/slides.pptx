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SHUVAEV.COM × KARPOV.COURSES × АСТ · ЛИТРЕС · ЭКСМО</a:t>
            </a:r>
          </a:p>
          <a:p>
            <a:r>
              <a:t>Марафон «ИИ в работе» · Занятие 4 / урок 5 ЛМС* · 17.09.2026 · Ярослав Шуваев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МАРШРУТ · 45 МИНУТ</a:t>
            </a:r>
          </a:p>
          <a:p>
            <a:r>
              <a:t>Расширение до 90 минут: самостоятельная практика +20, отладка +15, разбор задач +10.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ЗАЯВЛЕННАЯ ПРОГРАММА</a:t>
            </a:r>
          </a:p>
          <a:p>
            <a:r>
              <a:t>Сквозной навык: описать задачу ИИ → вставить код → запустить → проверить → исправить.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ВЫБОР ИНСТРУМЕНТА</a:t>
            </a:r>
          </a:p>
          <a:p>
            <a:r>
              <a:t>Наши скрипты записывают значения: после изменения данных нужно запустить их снова.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СРЕДЫ</a:t>
            </a:r>
          </a:p>
          <a:p>
            <a:r>
              <a:t>Excel для веба не запускает VBA. Код VBA нельзя вставить в Apps Script без переписывания.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ПОДГОТОВКА</a:t>
            </a:r>
          </a:p>
          <a:p>
            <a:r>
              <a:t>Book = книга · Channel = канал · Qty = количество · Price = цена. Data_09: 6 строк; Data_08: 4 строки. Строка 1 — заголовки.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1 · EXCEL</a:t>
            </a:r>
          </a:p>
          <a:p>
            <a:r>
              <a:t>Сначала короткий FirstMacro для этих шести строк. Затем — устойчивая версия Case1 на отдельном листе.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ПРОМПТ · МОЖНО КОПИРОВАТЬ ИЗ ТРЕНАЖЁРА</a:t>
            </a:r>
          </a:p>
          <a:p>
            <a:r>
              <a:t>Внешнему ИИ достаточно структуры и вымышленных строк. Рабочие данные передаём только в разрешённой среде.</a:t>
            </a:r>
          </a:p>
          <a:p>
            <a:r>
              <a:t>Все исполняемые примеры — в файлах QuickStart.bas, Lesson.bas, code.gs. Фрагменты на слайдах используются для объяснения.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· ПЕРВЫЙ ЗАПУСК</a:t>
            </a:r>
          </a:p>
          <a:p>
            <a:r>
              <a:t>Windows: Alt+F11 открывает редактор. Если вкладка скрыта: Файл → Параметры → Настроить ленту → Разработчик. При блокировке — ИТ, без отключения защиты.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· ВЕСЬ ПЕРВЫЙ МАКРОС</a:t>
            </a:r>
          </a:p>
          <a:p>
            <a:r>
              <a:t>Полный файл QuickStart.bas в пакете. На демонстрационных данных — строки 2–7; произвольную выгрузку этот вариант не обрабатывает.</a:t>
            </a:r>
          </a:p>
          <a:p>
            <a:r>
              <a:t>Все исполняемые примеры — в файлах QuickStart.bas, Lesson.bas, code.gs. Фрагменты на слайдах используются для объяснения.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· ПРОВЕРКА</a:t>
            </a:r>
          </a:p>
          <a:p>
            <a:r>
              <a:t>ИТОГО 10 200 · Подсветка: 3 000, 2 000, 2 000, 1 200, 1 400. Только 600 ниже порога. Запустите ещё раз: итог тот же.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· ДОВОДИМ ДО РАБОЧЕЙ ВЕРСИИ</a:t>
            </a:r>
          </a:p>
          <a:p>
            <a:r>
              <a:t>Промпт-продолжение: «Убери фиксированную границу, проверь вход и перенеси результат на Result_1. Дай полный обновлённый модуль».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· ОТЛАДКА В ДИАЛОГЕ</a:t>
            </a:r>
          </a:p>
          <a:p>
            <a:r>
              <a:t>Верните 4 в C3 и запустите снова. Если ошибка в коде — добавьте текст ошибки, строку и минимальный фрагмент без закрытых данных.</a:t>
            </a:r>
          </a:p>
          <a:p>
            <a:r>
              <a:t>Все исполняемые примеры — в файлах QuickStart.bas, Lesson.bas, code.gs. Фрагменты на слайдах используются для объяснения.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В GOOGLE</a:t>
            </a:r>
          </a:p>
          <a:p>
            <a:r>
              <a:t>Если администратор запрещает Apps Script, используйте автономный тренажёр; доступ к аккаунту в него не нужен.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· ПРОМПТ ДЛЯ ПЕРЕНОСА</a:t>
            </a:r>
          </a:p>
          <a:p>
            <a:r>
              <a:t>Разрешение — только на нужную таблицу. Наш пример не использует Gmail, сетевые запросы или доступ к другим файлам.</a:t>
            </a:r>
          </a:p>
          <a:p>
            <a:r>
              <a:t>Все исполняемые примеры — в файлах QuickStart.bas, Lesson.bas, code.gs. Фрагменты на слайдах используются для объяснения.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· ЧТЕНИЕ → ПРЕОБРАЗОВАНИЕ → ЗАПИСЬ</a:t>
            </a:r>
          </a:p>
          <a:p>
            <a:r>
              <a:t>Фрагмент для объяснения; запускается полный code.gs. Размер двумерного массива должен совпадать с диапазоном setValues().</a:t>
            </a:r>
          </a:p>
          <a:p>
            <a:r>
              <a:t>Все исполняемые примеры — в файлах QuickStart.bas, Lesson.bas, code.gs. Фрагменты на слайдах используются для объяснения.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· КОНТРОЛЬ</a:t>
            </a:r>
          </a:p>
          <a:p>
            <a:r>
              <a:t>Скрипт выполняется по команде. Обновление исходных данных само по себе не обновляет отчёт.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2 · GOOGLE · СРЕДНИЙ</a:t>
            </a:r>
          </a:p>
          <a:p>
            <a:r>
              <a:t>Выгрузка на отдельный лист не меняет Data_09. Нормализуем только сравнение; в отчёте сохраняем исходный текст.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2 · ПРОМПТ И ЯДРО РЕШЕНИЯ</a:t>
            </a:r>
          </a:p>
          <a:p>
            <a:r>
              <a:t>В файле меняется одна константа channel. Для Excel аналог — Case2 в Lesson.bas.</a:t>
            </a:r>
          </a:p>
          <a:p>
            <a:r>
              <a:t>Все исполняемые примеры — в файлах QuickStart.bas, Lesson.bas, code.gs. Фрагменты на слайдах используются для объяснения.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2 · ЗАВЕРШЕНИЕ</a:t>
            </a:r>
          </a:p>
          <a:p>
            <a:r>
              <a:t>CSV экспортирует и служебную колонку G. Для чистой выгрузки скопируйте A:E на новый лист, затем скачайте CSV. Excel: копия A:E в новую книгу → CSV UTF-8.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3 · GOOGLE · СЛОЖНЕЕ</a:t>
            </a:r>
          </a:p>
          <a:p>
            <a:r>
              <a:t>4 строки августа + 6 строк сентября = 10 строк. Общая выручка по Qty × Price = 15 000.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3 · ПРОМПТ</a:t>
            </a:r>
          </a:p>
          <a:p>
            <a:r>
              <a:t>Ожидаемые суммы — контроль качества, а не значения для жёсткого прописывания в коде.</a:t>
            </a:r>
          </a:p>
          <a:p>
            <a:r>
              <a:t>Все исполняемые примеры — в файлах QuickStart.bas, Lesson.bas, code.gs. Фрагменты на слайдах используются для объяснения.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3 · ЯДРО И КОНТРОЛЬ</a:t>
            </a:r>
          </a:p>
          <a:p>
            <a:r>
              <a:t>Source: Data_08 — 4 строки; Data_09 — 6. Колонка E здесь источник, а не Revenue.</a:t>
            </a:r>
          </a:p>
          <a:p>
            <a:r>
              <a:t>Все исполняемые примеры — в файлах QuickStart.bas, Lesson.bas, code.gs. Фрагменты на слайдах используются для объяснения.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· УДОБНЫЙ ЗАПУСК</a:t>
            </a:r>
          </a:p>
          <a:p>
            <a:r>
              <a:t>onOpen уже включён в code.gs. После сохранения обновите страницу таблицы. Функции вызываются из меню; веб-приложение разворачивать не нужно.</a:t>
            </a:r>
          </a:p>
          <a:p>
            <a:r>
              <a:t>Все исполняемые примеры — в файлах QuickStart.bas, Lesson.bas, code.gs. Фрагменты на слайдах используются для объяснения.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ЧТО-ТО НЕ РАБОТАЕТ</a:t>
            </a:r>
          </a:p>
          <a:p>
            <a:r>
              <a:t>Не просите ИИ «игнорировать ошибки». Передайте точное сообщение и критерий правильного результата.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ПРАКТИКА · ТРЕНАЖЁР</a:t>
            </a:r>
          </a:p>
          <a:p>
            <a:r>
              <a:t>Откройте Тренажёр.html: 9 заданий с обратной связью, конструктор промпта, скачивание кода и исходных данных. Симуляция не запускает VBA или облачный Apps Script.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СВОЯ ЗАДАЧА · 40–43 МИН</a:t>
            </a:r>
          </a:p>
          <a:p>
            <a:r>
              <a:t>Домашняя практика: один свой сценарий, промпт, код и три проверки. Для 90 минут — выполнить и разобрать ошибки в эфире.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ПАМЯТКА</a:t>
            </a:r>
          </a:p>
          <a:p>
            <a:r>
              <a:t>Result_1, Result_2, Result_3 — служебные листы, их содержимое перезаписывается. Не храните на них ручные заметки. Q&amp;A · 43–45 мин.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МАТЕРИАЛЫ И ИСТОЧНИКИ</a:t>
            </a:r>
          </a:p>
          <a:p>
            <a:r>
              <a:t>Ссылки на документацию и матрица соответствия программе — в файле «Сценарий и проверки.md». Проверено 14.09.2026. *Нумерация ЛМС унаследована из прошлого пакета.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SHUVAEV.COM × KARPOV.COURSES × АСТ · ЛИТРЕС · ЭКСМО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От задачи — к работающему скрипту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Excel VBA → Google Таблицы · Apps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Рассчитать и выделить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104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Выгрузить по условию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Объединить листы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Марафон «ИИ в работе» · Занятие 4 / урок 5 ЛМС* · 17.09.2026 · Ярослав Шуваев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01 / 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МАРШРУТ · 45 МИНУТ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Сначала завершаем Excel. Затем Google.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Один знакомый набор данных — три уровня автоматизации.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84248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Время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Что делаем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Что получаем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00–05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Задача, файлы, среда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Открытая учебная копия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05–18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Excel: промпт → макрос → проверка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10 200 и 5 выделенных ячеек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18–27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Google: перенос первого кейса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Тот же результат в Apps Script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27–33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Google: выгрузка Ozon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2 строки / 3 200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33–40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Google: объединение месяцев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10 строк / 15 000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40–45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Своя задача и вопросы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Промпт + критерии приёмки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Расширение до 90 минут: самостоятельная практика +20, отладка +15, разбор задач +10.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02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ЗАЯВЛЕННАЯ ПРОГРАММА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Все четыре операции — в трёх кейсах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VBA-версии всех кейсов лежат в пакете; в эфире после первого переходим в Google.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Кейс 1 · простой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Расчёт итогов + форматирование по условию.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Кейс 2 · средний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104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Выгрузка по фильтру на отдельный лист; затем 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Кейс 3 · сложнее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Объединение листов с проверкой заголовков и указанием источника.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Сквозной навык: описать задачу ИИ → вставить код → запустить → проверить → исправить.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03 / 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ВЫБОР ИНСТРУМЕНТА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Формула отвечает в ячейке. Скрипт выполняет шаги.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Автоматизируем повторяемый процесс с понятным входом и проверяемым выходом.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Формула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Посчитать значение и автоматически пересчитать его при изменении входных ячеек.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Скрипт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104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Прочитать листы, собрать отчёт, записать результат и применить оформление.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Роль 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Написать и объяснить код. Правильность результата проверяем на контрольных данных.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Наши скрипты записывают значения: после изменения данных нужно запустить их снова.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04 / 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ДВЕ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Задача одна. Языки и запуск разные.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Google Таблицы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Язык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VBA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Apps Script (JavaScript)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Где работает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Настольный Excel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Google Таблицы в браузере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Редактор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Разработчик → Visual Basic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Расширения → Apps Script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Хранение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Книга .xlsm + модуль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Проект, привязанный к таблице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Запуск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Макросы → FirstMacro / Case1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Выбрать case1 → Выполнить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Права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По правилам организации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Разрешение доступа к таблице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Excel для веба не запускает VBA. Код VBA нельзя вставить в Apps Script без переписывания.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05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ПОДГОТОВКА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Откройте Practice.xlsx и сделайте рабочую копию.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Все данные учебные. Английские заголовки используются для одинакового кода в двух средах.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84248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Book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Тихий сад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Литрес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Северный экспресс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Ozon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Шёпот времени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WB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Дом у маяка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Литрес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Book = книга · Channel = канал · Qty = количество · Price = цена. Data_09: 6 строк; Data_08: 4 строки. Строка 1 — заголовки.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06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КЕЙС 1 ·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Получить выручку и выделить крупные продажи.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Для каждой строки: Qty × Price. Порог: выручка ≥ 1 000.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Вход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Data_09!A1:D7 — шесть продаж; числа уже хранятся как числа.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Выход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104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E — Revenue, G2 — общий итог. Подсветка только рассчитанной выручки.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Критерий готовности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10 200 всего; 5 выделенных ячеек; результат повторного запуска не меняется.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Сначала короткий FirstMacro для этих шести строк. Затем — устойчивая версия Case1 на отдельном листе.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07 / 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ПРОМПТ · МОЖНО КОПИРОВАТЬ ИЗ ТРЕНАЖЁРА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Опишите данные, действие и проверку.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Слабый запрос: «Сделай макрос для продаж». В нём неизвестны лист, колонки и результат.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10972800" cy="2039112"/>
          </a:xfrm>
          <a:prstGeom prst="rect">
            <a:avLst/>
          </a:prstGeom>
          <a:solidFill>
            <a:srgbClr val="14161C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Напиши короткий VBA-макрос FirstMacro для настольного Excel.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В этой книге лист Data_09, данные A1:D7.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Заголовки: Book, Channel, Qty, Price; строка 1 — заголовки.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В E1 запиши Revenue, в E2:E7 — Qty × Price.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Перед расчётом сбрось заливку E2:E7.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Подсвети E, если выручка &gt;= 1000.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В G1 запиши Total, в G2 — сумму E2:E7.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Не меняй A:D. Используй ThisWorkbook, не ActiveSheet.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Дай полный код и шаги запуска. Ожидаемый итог: 10200.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Внешнему ИИ достаточно структуры и вымышленных строк. Рабочие данные передаём только в разрешённой среде.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08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EXCEL · ПЕРВЫЙ ЗАПУСК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Вставить → сохранить → выполнить.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Сохранить копию как .xlsm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933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Файл → Сохранить как → Книга Excel с поддержкой макросов.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Открыть редактор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163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Разработчик → Visual Basic → Insert → Module.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Вставить FirstMacro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393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Копируйте из тренажёра; либо File → Import File → QuickStart.bas.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Запустить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622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Вернуться в Excel → Разработчик → Макросы → FirstMacro → Выполнить.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Windows: Alt+F11 открывает редактор. Если вкладка скрыта: Файл → Параметры → Настроить ленту → Разработчик. При блокировке — ИТ, без отключения защиты.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09 / 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EXCEL · ВЕСЬ ПЕРВЫЙ МАКРОС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Небольшой скрипт с видимым результатом.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2642616"/>
          </a:xfrm>
          <a:prstGeom prst="rect">
            <a:avLst/>
          </a:prstGeom>
          <a:solidFill>
            <a:srgbClr val="14161C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Public Sub FirstMacro()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Dim ws As Worksheet, i As Long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Set ws = ThisWorkbook.Worksheets("Data_09")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ws.Range("E1").Value = "Revenue"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ws.Range("E2:E7").Interior.Pattern = xlNone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For i = 2 To 7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    ws.Cells(i, 5).Value = ws.Cells(i, 3).Value * ws.Cells(i, 4).Value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    If ws.Cells(i, 5).Value &gt;= 1000 Then ws.Cells(i, 5).Interior.Color = RGB(255, 228, 181)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Next i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ws.Range("G1").Value = "Total"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ws.Range("G2").Value = Application.Sum(ws.Range("E2:E7"))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End Sub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Полный файл QuickStart.bas в пакете. На демонстрационных данных — строки 2–7; произвольную выгрузку этот вариант не обрабатывает.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10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EXCEL ·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Макрос закончен, когда сошлись контрольные числа.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Книга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Qty × Price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Тихий сад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10 × 300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3000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Северный экспресс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4 × 500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Шёпот времени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3 × 200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Дом у маяка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5 × 400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Игры разума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2 × 600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1200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Тихий сад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7 × 200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1400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ИТОГО 10 200 · Подсветка: 3 000, 2 000, 2 000, 1 200, 1 400. Только 600 ниже порога. Запустите ещё раз: итог тот же.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11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EXCEL · ДОВОДИМ ДО РАБОЧЕЙ ВЕРСИИ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Уберите зависимость от шести строк.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Вставьте Lesson.bas отдельным модулем и запустите Case1.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Изменение входа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Читаем все строки A:D до последней занятой; пустые строки пропускаем. Лимит — 10 000 строк на лист.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Проверки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104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Нужный лист, точные заголовки, заполненные книга и канал, неотрицательные числовые Qty и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Чистый результат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Пересобираем только Result_1; исходный Data_09 не меняем. Ошибки входа выявляем до записи.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Промпт-продолжение: «Убери фиксированную границу, проверь вход и перенеси результат на Result_1. Дай полный обновлённый модуль».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12 / 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EXCEL · ОТЛАДКА В ДИАЛОГЕ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Передайте ошибку и ожидаемое поведение.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Тест: временно замените Qty одной продажи на слово «два» и запустите Case1.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10972800" cy="1636776"/>
          </a:xfrm>
          <a:prstGeom prst="rect">
            <a:avLst/>
          </a:prstGeom>
          <a:solidFill>
            <a:srgbClr val="14161C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Среда: настольный Excel, VBA. Запускаю Case1.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На Data_09 в C3 текст «два» вместо числа.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Получаю Numeric cell required, row 3.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Ожидание: остановиться до изменения Result_1.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Объясни причину, предложи исправление входных данных.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Не превращай неизвестные значения в ноль.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После исправления ожидаю итог 10200.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Верните 4 в C3 и запустите снова. Если ошибка в коде — добавьте текст ошибки, строку и минимальный фрагмент без закрытых данных.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13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ПЕРЕХОД В GOOGLE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Переносим логику, а не синтаксис VBA.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Excel-кейс завершён: код работает, результат проверен, ошибка разобрана.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84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Импортировать Practice.xlsx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Google Таблицы → Файл → Импортировать. Открыть как Google Таблицу.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07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072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Открыть Apps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Расширения → Apps Script. Вставить весь code.gs, сохранить.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30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30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Запустить case1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В списке функций выбрать case1 → Выполнить. Проверить запрашиваемые права.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53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53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Сверить Result_1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6 строк; G2 = 10200; 5 подсвеченных ячеек выручки.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Если администратор запрещает Apps Script, используйте автономный тренажёр; доступ к аккаунту в него не нужен.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14 / 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GOOGLE · ПРОМПТ ДЛЯ ПЕРЕНОСА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Скажите модели, что изменилось.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2039112"/>
          </a:xfrm>
          <a:prstGeom prst="rect">
            <a:avLst/>
          </a:prstGeom>
          <a:solidFill>
            <a:srgbClr val="14161C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Перепиши задачу на Google Apps Script, привязанный к таблице.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Вход: Data_09, колонки Book, Channel, Qty, Price.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Результат: Result_1, колонки A:E; итог в G2.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Прочитай A:D одним getValues(), запиши массив setValues().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Выручка = Qty × Price с округлением до двух знаков.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Порог подсветки &gt;= 1000.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Проверь заголовки и числа до записи. Пустые строки пропускай.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Повторный запуск пересобирает только Result_1.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Дай весь код с вспомогательными функциями и шаги запуска.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Разрешение — только на нужную таблицу. Наш пример не использует Gmail, сетевые запросы или доступ к другим файлам.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15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GOOGLE · ЧТЕНИЕ → ПРЕОБРАЗОВАНИЕ → ЗАПИСЬ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Массив — это таблица в памяти.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1636776"/>
          </a:xfrm>
          <a:prstGeom prst="rect">
            <a:avLst/>
          </a:prstGeom>
          <a:solidFill>
            <a:srgbClr val="14161C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const rows = readRows('Data_09');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const result = rows.map(r =&gt; [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...r, Math.round(r[2] * r[3] * 100) / 100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]);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const sheet = writeReport('Result_1', [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[...HEADERS, 'Revenue'], ...result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]);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38144"/>
            <a:ext cx="5404104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r[2] и r[3]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9624"/>
            <a:ext cx="5404104" cy="1956815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В массиве индексы начинаются с 0. Это Qty и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7336" y="3438144"/>
            <a:ext cx="5404104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getRange(2, 5, n,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3849624"/>
            <a:ext cx="5404104" cy="1956815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На листе номера с 1: строка 2, колонка E, n строк, 1 столбец.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Фрагмент для объяснения; запускается полный code.gs. Размер двумерного массива должен совпадать с диапазоном setValues().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16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GOOGLE · КОНТРОЛЬ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Одинаковый вход должен дать одинаковый отчёт.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Базовый 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Result_1: итог 10 200; 6 строк и 5 выделений при пороге 1 000.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1104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Пограничный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Порог 2 000: 3 выделения. Равенство включено: используем &gt;=.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Повторный запуск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Измените порог, запустите снова: старая подсветка очищается, строки не накапливаются.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Скрипт выполняется по команде. Обновление исходных данных само по себе не обновляет отчёт.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17 / 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КЕЙС 2 · GOOGLE · СРЕДНИЙ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Выгрузить продажи одного канала.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Выбираем Ozon, оставляем только его строки и считаем выручку.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84248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Входное условие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Контроль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Channel = Ozon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Result_2!A:E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2 строки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Пробелы по краям и регистр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Сравниваем нормализованный текст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ozon и Ozon совпадают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Нет совпадений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Только заголовок + G2 = 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Не создаём пустой диапазон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Повторный запуск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Пересобрать Result_2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Без старых строк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Выгрузка на отдельный лист не меняет Data_09. Нормализуем только сравнение; в отчёте сохраняем исходный текст.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18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КЕЙС 2 · ПРОМПТ И ЯДРО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Зафиксируйте правило фильтра и пустой результат.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2039112"/>
          </a:xfrm>
          <a:prstGeom prst="rect">
            <a:avLst/>
          </a:prstGeom>
          <a:solidFill>
            <a:srgbClr val="14161C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Напиши case2 для Google Apps Script. Data_09 → Result_2.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Оставь Channel = Ozon: убери крайние пробелы, игнорируй регистр.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Добавь Revenue = Qty × Price, в G2 укажи число строк.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Если совпадений нет — заголовки и 0.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Проверь вход до записи, при повторном запуске убери старый вывод.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// Фрагмент; весь запускаемый код — в code.gs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const rows = readRows('Data_09').filter(r =&gt;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r[1].trim().toLowerCase() === channel.toLowerCase());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В файле меняется одна константа channel. Для Excel аналог — Case2 в Lesson.bas.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19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КЕЙС 2 · ЗАВЕРШЕНИЕ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Две строки — это результат, который легко проверить.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09728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Book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Северный экспресс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Ozon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Игры разума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Ozon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1200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035808"/>
            <a:ext cx="5404104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47288"/>
            <a:ext cx="5404104" cy="2359151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2 строки; 6 экземпляров; сумма выручки 3 200.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7336" y="3035808"/>
            <a:ext cx="5404104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Выгрузить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3447288"/>
            <a:ext cx="5404104" cy="2359151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Открыть Result_2 → Файл → Скачать → CSV (текущий лист).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CSV экспортирует и служебную колонку G. Для чистой выгрузки скопируйте A:E на новый лист, затем скачайте CSV. Excel: копия A:E в новую книгу → CSV UTF-8.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20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КЕЙС 3 · GOOGLE · СЛОЖНЕЕ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Объединить месяцы и сохранить происхождение строк.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7BBC5"/>
                </a:solidFill>
                <a:latin typeface="Arial"/>
              </a:defRPr>
            </a:pPr>
            <a:r>
              <a:t>Data_08 + Data_09 → Result_3. Это добавление строк, не поиск соответствий по ключу.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Схема одинакова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Точные заголовки Book, Channel, Qty, Price в A:D и в том же порядке.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Только нужные листы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104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Белый список: Data_08 и Data_09. Result_3 никогда не становится входом.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984248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Источник в колонке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395728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Source хранит имя листа. Повторные продажи сохраняем: дедупликация не задана.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4 строки августа + 6 строк сентября = 10 строк. Общая выручка по Qty × Price = 15 000.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21 / 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КЕЙС 3 · ПРОМПТ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Объединение начинается с проверки схемы.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2039112"/>
          </a:xfrm>
          <a:prstGeom prst="rect">
            <a:avLst/>
          </a:prstGeom>
          <a:solidFill>
            <a:srgbClr val="14161C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Создай case3 в Google Apps Script.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Вход: только Data_08 и Data_09; одинаковые колонки A:D.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Проверь наличие обоих листов, заголовки и все строки до записи.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Объедини данные, пропуская полностью пустые строки и заголовки.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Добавь Source с именем исходного листа.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Не удаляй повторные продажи.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Пересобери Result_3, в G2 запиши число строк.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Если один источник ошибочен — сохрани прежний отчёт.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Контроль: 10 строк, 46 экземпляров, сумма Qty × Price = 15000.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Ожидаемые суммы — контроль качества, а не значения для жёсткого прописывания в коде.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22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КЕЙС 3 · ЯДРО И КОНТРОЛЬ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Сначала читаем оба источника. Потом пишем результат.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1636776"/>
          </a:xfrm>
          <a:prstGeom prst="rect">
            <a:avLst/>
          </a:prstGeom>
          <a:solidFill>
            <a:srgbClr val="14161C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const sources = ['Data_08', 'Data_09'];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const result = sources.flatMap(name =&gt;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readRows(name).map(r =&gt; [...r, name])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);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const sheet = writeReport('Result_3', [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[...HEADERS, 'Source'], ...result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]);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38144"/>
            <a:ext cx="5404104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Проверка ошибки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9624"/>
            <a:ext cx="5404104" cy="1956815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Переименуйте Price в Cost на Data_08. Запуск должен остановиться; старый Result_3 сохраняется.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7336" y="3438144"/>
            <a:ext cx="5404104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Проверка повтора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3849624"/>
            <a:ext cx="5404104" cy="1956815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Верните Price и запустите дважды. Остаётся 10 строк, а не 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Source: Data_08 — 4 строки; Data_09 — 6. Колонка E здесь источник, а не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23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GOOGLE · УДОБНЫЙ ЗАПУСК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Добавьте меню, чтобы не открывать редактор.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1636776"/>
          </a:xfrm>
          <a:prstGeom prst="rect">
            <a:avLst/>
          </a:prstGeom>
          <a:solidFill>
            <a:srgbClr val="14161C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function onOpen() {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SpreadsheetApp.getUi().createMenu('Lesson')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.addItem('1. Revenue', 'case1')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.addItem('2. Filter', 'case2')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.addItem('3. Merge', 'case3')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    .addToUi();</a:t>
            </a:r>
          </a:p>
          <a:p>
            <a:pPr>
              <a:defRPr sz="1300" b="0">
                <a:solidFill>
                  <a:srgbClr val="F4F4F6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onOpen уже включён в code.gs. После сохранения обновите страницу таблицы. Функции вызываются из меню; веб-приложение разворачивать не нужно.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24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ЕСЛИ ЧТО-ТО НЕ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Проверьте среду, вход и границы записи.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Симптом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4F6"/>
                          </a:solidFill>
                        </a:defRPr>
                      </a:pPr>
                      <a:r>
                        <a:t>Причина / следующий шаг</a:t>
                      </a:r>
                    </a:p>
                  </a:txBody>
                  <a:tcPr>
                    <a:solidFill>
                      <a:srgbClr val="373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VBA не запускается в браузере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Открыть в настольном Excel или использовать Apps Script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Missing sheet / Subscript out of range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Сверить Data_09 и Data_08; VBA-модуль должен быть в этой книге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Expected Book, Channel, Qty, Price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Вернуть точные заголовки и порядок A:D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Numeric cell required / Invalid data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Исправить текстовые, пустые или отрицательные числа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Нет меню Lesson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Сохранить code.gs и обновить Google Таблицу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Запись запрещена / ошибка доступа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4F6"/>
                          </a:solidFill>
                        </a:defRPr>
                      </a:pPr>
                      <a:r>
                        <a:t>Проверить права на копию и защиту листа; обратиться к ИТ</a:t>
                      </a:r>
                    </a:p>
                  </a:txBody>
                  <a:tcPr>
                    <a:solidFill>
                      <a:srgbClr val="292C3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Не просите ИИ «игнорировать ошибки». Передайте точное сообщение и критерий правильного результата.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25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ПРАКТИКА · ТРЕНАЖЁР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Измените условие и предскажите результат.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1 · Выручка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Поставьте порог 2 000. Предскажите число выделенных строк.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1104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2 · Фильтр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Поменяйте канал на WB. Найдите число строк и сумму выручки.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3 · Объединение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Сверьте число строк, количество экземпляров и итог двух месяцев.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Откройте Тренажёр.html: 9 заданий с обратной связью, конструктор промпта, скачивание кода и исходных данных. Симуляция не запускает VBA или облачный Apps Script.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26 / 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СВОЯ ЗАДАЧА · 40–43 МИН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Сформулируйте контракт автоматизации.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Вход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933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Среда, имена листов, заголовки, типы данных, пример 3 строк.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Действие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163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Расчёт, фильтр или объединение; точные правила и граничные случаи.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Выход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393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Лист и диапазон результата, поведение при повторном запуске.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35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  <a:latin typeface="Arial"/>
              </a:defRPr>
            </a:pPr>
            <a:r>
              <a:t>Приёмка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622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CD5"/>
                </a:solidFill>
                <a:latin typeface="Arial"/>
              </a:defRPr>
            </a:pPr>
            <a:r>
              <a:t>Известные числа, пустой вход, ошибочные данные, повторный запуск.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Домашняя практика: один свой сценарий, промпт, код и три проверки. Для 90 минут — выполнить и разобрать ошибки в эфире.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27 / 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ПАМЯТКА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Скрипт готов, когда его можно повторить.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Перед запуском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Учебная копия, известные входные листы, понятные права, просмотр кода.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1104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После запуска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Сошлись строки и суммы; исходные данные на месте; повтор не создаёт дублей.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Перед передачей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Полный код, инструкция, контрольный набор и описание ограничений.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Result_1, Result_2, Result_3 — служебные листы, их содержимое перезаписывается. Не храните на них ручные заметки. Q&amp;A · 43–45 мин.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28 / 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354"/>
                </a:solidFill>
                <a:latin typeface="Arial"/>
              </a:defRPr>
            </a:pPr>
            <a:r>
              <a:t>МАТЕРИАЛЫ И 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6"/>
                </a:solidFill>
                <a:latin typeface="Arial"/>
              </a:defRPr>
            </a:pPr>
            <a:r>
              <a:t>Всё для повторения — в одном пакете.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Материалы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Презентация PDF + PPTX; Тренажёр.html; SCORM; Practice.xlsx; VBA и Apps Script; сценарий ведущего.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1104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Microsoft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Getting started with VBA in Office; Range object; Work with VBA macros in Excel for the web.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691640"/>
            <a:ext cx="3547872" cy="4114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354"/>
                </a:solidFill>
                <a:latin typeface="Arial"/>
              </a:defRPr>
            </a:pPr>
            <a:r>
              <a:t>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103120"/>
            <a:ext cx="3547872" cy="2468880"/>
          </a:xfrm>
          <a:prstGeom prst="rect">
            <a:avLst/>
          </a:prstGeom>
          <a:solidFill>
            <a:srgbClr val="292C35"/>
          </a:solidFill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4F6"/>
                </a:solidFill>
                <a:latin typeface="Arial"/>
              </a:defRPr>
            </a:pPr>
            <a:r>
              <a:t>Apps Script: Range; Custom Menus; Authorization for Google Services.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7BBC5"/>
                </a:solidFill>
                <a:latin typeface="Arial"/>
              </a:defRPr>
            </a:pPr>
            <a:r>
              <a:t>Ссылки на документацию и матрица соответствия программе — в файле «Сценарий и проверки.md». Проверено 14.09.2026. *Нумерация ЛМС унаследована из прошлого пакета.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29 / 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65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096A2"/>
                </a:solidFill>
                <a:latin typeface="Arial"/>
              </a:defRPr>
            </a:pPr>
            <a:r>
              <a:t>SHUVAEV.COM · KARPOV.COURSES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